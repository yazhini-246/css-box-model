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D1F8-7F41-9460-BA32-A6A1FE173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B8471-0768-1ABC-56DB-B7E3C9D17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21256-4EFA-D4B3-8634-E9972083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74A6-2EDB-F69F-E7E3-0385CC06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1BFE9-C255-B6AD-6A03-4FD32007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4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C80F-CF72-5B15-3959-0F4435D9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2924-23A3-3565-5532-882006F3F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5916E-5004-6F6A-69EC-E13E8506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8A166-40B1-BAF9-51DA-5583605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EDAF9-7964-4880-CA9C-6147A940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22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BA36-F582-A4DB-B859-D36A1828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DF3ED-1AB5-D278-6F8A-584DD377A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35D28-4E24-7CBE-49C0-4E4F0971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599FF-38D1-0AFD-1139-948C39FB8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2AABB-141E-D221-617D-B242D2D9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40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F826-1880-6B99-0333-B7B91277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0494-F51F-94F7-2E83-517722926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7A487-518A-DFEB-9336-6565B7392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CF908-37E0-AB1B-06DC-D16C6B2C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0D5F9-13DD-D905-7995-43240510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D68E6-FC49-4B8B-3E6A-78DE90C8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6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D42B-6D37-F00A-2852-2CA13437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C497B-EFAB-B18A-125D-3D6AA5157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7C56B-555E-5160-007A-968DD4744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6D7D0-6A01-27A4-AC45-A954CA53C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4E0DD-BB12-6A38-EC38-A60788AD4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E3AE2-894D-9F2C-5975-DFE9845F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9C37B-BDA1-E89C-9150-D1D652AB3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3B395E-D9C6-EB25-DEE7-7AF9C3D3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35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A092-A5F0-F6FD-8605-AD5058E3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925AF-F795-D084-66A0-C23BA559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1F8E8-DC25-62CD-8D20-FE54E26E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87B31-4778-CF84-C89A-47FFA5F4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3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D6B34-0CB5-1EBA-E4F4-BDC0ADE6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9852D-4661-A912-F7BF-2AE637E0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C4070-6D43-D487-9366-C8A4AC41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2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9D85-60CB-E52A-7061-030CD678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0C68-40E2-6214-710B-A48507DC6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DBEB6-20A1-3331-CDB2-4A933EF28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DACD8-97C0-7A2A-2EB5-34CEEF0F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52675-35D1-8F8E-8F84-A7F1A470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FA80-5799-6F4F-039D-9B0BC848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96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3729-CD26-80FB-1730-805D2F69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11E65-301D-FF84-26DB-A7E9A129A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307A1-65C5-1D5E-383F-EB62B3601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F6352-E64F-5E73-D9B4-953CC0CB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BAB32-AEC6-B47F-8953-D13E95F4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F1BDE-4BFD-372E-A27E-C1465D96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0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7131-F4A0-69EF-D3EC-95CB6CC1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8CC53-FCA7-766B-5B83-6E69674B3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D5D8E-067A-8CB9-110C-EDD495D9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CEF7-AF75-4B76-F314-1BA1CA51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70644-5113-0466-D0BD-3CB83EA0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8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5E919F-BF78-6C44-376A-0123409BF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3C0D4-32D5-3453-A2C1-159511D94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B435-5084-9E96-8E26-42E92ECB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348CB-C0AB-880C-A6DC-ADF34A9E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8DEF3-AF3A-6874-AAA1-1372BE80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50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D96BB-9340-0433-D745-A0D451A5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32A57-A147-8786-72DD-924C0CE67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12A2-EB8B-77A9-4211-28702C138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7D2B8-4832-445A-987D-F3E01DE7F4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78698-B732-8CAF-E3E0-0BD5C2C42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F4E67-0DAB-D10C-079B-564C98AE7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429AE-024B-4E1D-84FD-DA940BF71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1B95-1DA0-25C5-C849-959EAD42D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LIBRARY MANAGEMENT SYSTEM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08636-6CBF-18BC-D883-C9B73A5275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81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7460-7E93-7648-6A25-EEC9E0EB9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" y="-3186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INTRODUCTION: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49FD3-0754-0E55-7BE4-2D7C60AD176D}"/>
              </a:ext>
            </a:extLst>
          </p:cNvPr>
          <p:cNvSpPr txBox="1"/>
          <p:nvPr/>
        </p:nvSpPr>
        <p:spPr>
          <a:xfrm>
            <a:off x="1956020" y="1006876"/>
            <a:ext cx="79433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Library Management System (LMS)</a:t>
            </a:r>
            <a:r>
              <a:rPr lang="en-US" dirty="0"/>
              <a:t> is a software application designed to manage and automate the daily operations of a library. It helps in maintaining records of books, authors, users, and transactions in an organized and efficient manner. The system reduces manual work and improves accuracy, accessibility, and data security.</a:t>
            </a:r>
          </a:p>
          <a:p>
            <a:r>
              <a:rPr lang="en-US" dirty="0"/>
              <a:t>This project is developed using </a:t>
            </a:r>
            <a:r>
              <a:rPr lang="en-US" b="1" dirty="0"/>
              <a:t>Spring Boot</a:t>
            </a:r>
            <a:r>
              <a:rPr lang="en-US" dirty="0"/>
              <a:t> for the backend and </a:t>
            </a:r>
            <a:r>
              <a:rPr lang="en-US" b="1" dirty="0"/>
              <a:t>HTML, CSS, and JavaScript</a:t>
            </a:r>
            <a:r>
              <a:rPr lang="en-US" dirty="0"/>
              <a:t> for the frontend. It allows users to perform essential library operations such as adding new books, viewing the list of available books, updating book details, and deleting records. A secure </a:t>
            </a:r>
            <a:r>
              <a:rPr lang="en-US" b="1" dirty="0"/>
              <a:t>login system</a:t>
            </a:r>
            <a:r>
              <a:rPr lang="en-US" dirty="0"/>
              <a:t> is implemented to ensure that only authorized users can access the library features.</a:t>
            </a:r>
          </a:p>
          <a:p>
            <a:r>
              <a:rPr lang="en-US" dirty="0"/>
              <a:t>The Library Management System provides a user-friendly interface and ensures smooth interaction between the frontend and backend. By digitizing library operations, the system saves time, minimizes errors, and enhances overall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41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753A-3DFA-3CF5-23EF-A9968A05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3" y="-3186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ABSTRACT: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40A74-AAC3-1CE1-F3F4-822313BBEEA9}"/>
              </a:ext>
            </a:extLst>
          </p:cNvPr>
          <p:cNvSpPr txBox="1"/>
          <p:nvPr/>
        </p:nvSpPr>
        <p:spPr>
          <a:xfrm>
            <a:off x="2138901" y="1160891"/>
            <a:ext cx="68858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Library Management System</a:t>
            </a:r>
            <a:r>
              <a:rPr lang="en-US" dirty="0"/>
              <a:t> is a web-based application designed to automate and simplify the management of library operations. The system replaces traditional manual record-keeping with a digital solution that ensures efficiency, accuracy, and easy access to information. It allows administrators to manage book details such as title, author, and price through a centralized platform.</a:t>
            </a:r>
          </a:p>
          <a:p>
            <a:r>
              <a:rPr lang="en-US" dirty="0"/>
              <a:t>This application is developed using </a:t>
            </a:r>
            <a:r>
              <a:rPr lang="en-US" b="1" dirty="0"/>
              <a:t>Spring Boot</a:t>
            </a:r>
            <a:r>
              <a:rPr lang="en-US" dirty="0"/>
              <a:t> for the backend and </a:t>
            </a:r>
            <a:r>
              <a:rPr lang="en-US" b="1" dirty="0"/>
              <a:t>HTML, CSS, and JavaScript</a:t>
            </a:r>
            <a:r>
              <a:rPr lang="en-US" dirty="0"/>
              <a:t> for the frontend, with </a:t>
            </a:r>
            <a:r>
              <a:rPr lang="en-US" b="1" dirty="0"/>
              <a:t>MySQL</a:t>
            </a:r>
            <a:r>
              <a:rPr lang="en-US" dirty="0"/>
              <a:t> used for data storage. A secure login mechanism is implemented to restrict access to authorized users. The system supports essential operations including adding, viewing, updating, and deleting book records.</a:t>
            </a:r>
          </a:p>
          <a:p>
            <a:r>
              <a:rPr lang="en-US" dirty="0"/>
              <a:t>By providing a user-friendly interface and a robust backend architecture, the Library Management System reduces workload, minimizes errors, and improves data management. The project demonstrates how modern web technologies can be effectively used to build a reliable and scalable library automation solution.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56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2E3D-19BA-ABB4-4BF7-D9DA828E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229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What we are going to </a:t>
            </a:r>
            <a:r>
              <a:rPr lang="en-US" sz="3200" dirty="0" err="1"/>
              <a:t>build:Client</a:t>
            </a:r>
            <a:r>
              <a:rPr lang="en-US" sz="3200" dirty="0"/>
              <a:t> Requirements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80F98-6C3F-13ED-CCB7-E9996D3FBFFA}"/>
              </a:ext>
            </a:extLst>
          </p:cNvPr>
          <p:cNvSpPr txBox="1"/>
          <p:nvPr/>
        </p:nvSpPr>
        <p:spPr>
          <a:xfrm>
            <a:off x="2107094" y="462693"/>
            <a:ext cx="77127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Introduction:</a:t>
            </a:r>
          </a:p>
          <a:p>
            <a:r>
              <a:rPr lang="en-US" dirty="0"/>
              <a:t>The client requires a </a:t>
            </a:r>
            <a:r>
              <a:rPr lang="en-US" b="1" dirty="0"/>
              <a:t>Library Management System (LMS)</a:t>
            </a:r>
            <a:r>
              <a:rPr lang="en-US" dirty="0"/>
              <a:t> to efficiently manage books, users, and library operations. The system should reduce manual work, improve accuracy, and provide easy access to library data through a user-friendly interface.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60A3A-70D3-B1F3-BC9E-DF15421A65B9}"/>
              </a:ext>
            </a:extLst>
          </p:cNvPr>
          <p:cNvSpPr txBox="1"/>
          <p:nvPr/>
        </p:nvSpPr>
        <p:spPr>
          <a:xfrm>
            <a:off x="2150826" y="1849771"/>
            <a:ext cx="7625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Functional Requirements:</a:t>
            </a:r>
          </a:p>
          <a:p>
            <a:r>
              <a:rPr lang="en-US" b="1" dirty="0"/>
              <a:t>2.1 User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must provide a </a:t>
            </a:r>
            <a:r>
              <a:rPr lang="en-US" b="1" dirty="0"/>
              <a:t>secure login page</a:t>
            </a:r>
            <a:r>
              <a:rPr lang="en-US" dirty="0"/>
              <a:t> for authorized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authenticated users should be allowed to access library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Logout functionality must be available.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95A29-3F7A-26FE-A187-AAFD1D6BD087}"/>
              </a:ext>
            </a:extLst>
          </p:cNvPr>
          <p:cNvSpPr txBox="1"/>
          <p:nvPr/>
        </p:nvSpPr>
        <p:spPr>
          <a:xfrm>
            <a:off x="2150825" y="3192921"/>
            <a:ext cx="64803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2.2 Book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must allow users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new books with </a:t>
            </a:r>
            <a:r>
              <a:rPr lang="en-US" b="1" dirty="0"/>
              <a:t>Book Name, Author Name, and Price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 all available books in a </a:t>
            </a:r>
            <a:r>
              <a:rPr lang="en-US" b="1" dirty="0"/>
              <a:t>tabular format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book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Delete books from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book list should update dynamically after each operation.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1F68E-D0BD-5B89-2815-EED95D80E676}"/>
              </a:ext>
            </a:extLst>
          </p:cNvPr>
          <p:cNvSpPr txBox="1"/>
          <p:nvPr/>
        </p:nvSpPr>
        <p:spPr>
          <a:xfrm rot="10800000" flipH="1" flipV="1">
            <a:off x="2150824" y="5066215"/>
            <a:ext cx="4737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2.3 Book Display: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Books must be displayed in a </a:t>
            </a:r>
            <a:r>
              <a:rPr lang="en-US" b="1" dirty="0"/>
              <a:t>clear, readable table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row should include </a:t>
            </a:r>
            <a:r>
              <a:rPr lang="en-US" b="1" dirty="0"/>
              <a:t>Edit</a:t>
            </a:r>
            <a:r>
              <a:rPr lang="en-US" dirty="0"/>
              <a:t> and </a:t>
            </a:r>
            <a:r>
              <a:rPr lang="en-US" b="1" dirty="0"/>
              <a:t>Delete</a:t>
            </a:r>
            <a:r>
              <a:rPr lang="en-US" dirty="0"/>
              <a:t> 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should show updated data .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89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3CC8-A572-7480-5662-7BE58609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410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What we are going to </a:t>
            </a:r>
            <a:r>
              <a:rPr lang="en-US" sz="3200" dirty="0" err="1"/>
              <a:t>build:Some</a:t>
            </a:r>
            <a:r>
              <a:rPr lang="en-US" sz="3200" dirty="0"/>
              <a:t> Technical Terms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BC0A9D-8BC4-5FC4-5F27-A0078A865DC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39076" y="772961"/>
            <a:ext cx="1051560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Library Management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Boot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backend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book-related operations (Add, View, Update, Delete).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user login and access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relational 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persistent storage of book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frontend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and 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for efficient book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(Model–View–Controller) design pattern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clean separation of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Client–server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HTTP requests with JSON data exchange.</a:t>
            </a:r>
          </a:p>
        </p:txBody>
      </p:sp>
    </p:spTree>
    <p:extLst>
      <p:ext uri="{BB962C8B-B14F-4D97-AF65-F5344CB8AC3E}">
        <p14:creationId xmlns:p14="http://schemas.microsoft.com/office/powerpoint/2010/main" val="161345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CAC80-594E-37EA-B256-EDAD5B31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82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What are the technologies and tools: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21BC-FAA0-A2CF-8CD6-6CF2606B53EB}"/>
              </a:ext>
            </a:extLst>
          </p:cNvPr>
          <p:cNvSpPr txBox="1"/>
          <p:nvPr/>
        </p:nvSpPr>
        <p:spPr>
          <a:xfrm>
            <a:off x="1977224" y="383594"/>
            <a:ext cx="80149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Backend Technologies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Java</a:t>
            </a:r>
            <a:r>
              <a:rPr lang="en-US" dirty="0"/>
              <a:t> – Core programming language used for application logic.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Spring Boot</a:t>
            </a:r>
            <a:r>
              <a:rPr lang="en-US" dirty="0"/>
              <a:t> – Framework for building stand-alone, production-ready backend applications.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Spring Data JPA (Hibernate)</a:t>
            </a:r>
            <a:r>
              <a:rPr lang="en-US" dirty="0"/>
              <a:t> – For object–relational mapping and database operations.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Spring Security</a:t>
            </a:r>
            <a:r>
              <a:rPr lang="en-US" dirty="0"/>
              <a:t> – For authentication and authorization (login functionality).</a:t>
            </a: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63F06-A7FC-97A6-0EF9-266392746759}"/>
              </a:ext>
            </a:extLst>
          </p:cNvPr>
          <p:cNvSpPr txBox="1"/>
          <p:nvPr/>
        </p:nvSpPr>
        <p:spPr>
          <a:xfrm>
            <a:off x="1977224" y="2281677"/>
            <a:ext cx="7347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Frontend Technologies</a:t>
            </a:r>
          </a:p>
          <a:p>
            <a:pPr>
              <a:buFont typeface="+mj-lt"/>
              <a:buAutoNum type="arabicPeriod" startAt="5"/>
            </a:pPr>
            <a:r>
              <a:rPr lang="en-US" b="1" dirty="0"/>
              <a:t>HTML5</a:t>
            </a:r>
            <a:r>
              <a:rPr lang="en-US" dirty="0"/>
              <a:t> – Structure of the web pages.</a:t>
            </a:r>
          </a:p>
          <a:p>
            <a:pPr>
              <a:buFont typeface="+mj-lt"/>
              <a:buAutoNum type="arabicPeriod" startAt="5"/>
            </a:pPr>
            <a:r>
              <a:rPr lang="en-US" b="1" dirty="0"/>
              <a:t>CSS3</a:t>
            </a:r>
            <a:r>
              <a:rPr lang="en-US" dirty="0"/>
              <a:t> – Styling and layout of the user interface.</a:t>
            </a:r>
          </a:p>
          <a:p>
            <a:pPr>
              <a:buFont typeface="+mj-lt"/>
              <a:buAutoNum type="arabicPeriod" startAt="5"/>
            </a:pPr>
            <a:r>
              <a:rPr lang="en-US" b="1" dirty="0"/>
              <a:t>JavaScript</a:t>
            </a:r>
            <a:r>
              <a:rPr lang="en-US" dirty="0"/>
              <a:t> – Client-side interactivity and dynamic content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07DCA-2DA7-E3F9-98D9-4FE605C9AE5D}"/>
              </a:ext>
            </a:extLst>
          </p:cNvPr>
          <p:cNvSpPr txBox="1"/>
          <p:nvPr/>
        </p:nvSpPr>
        <p:spPr>
          <a:xfrm>
            <a:off x="1977223" y="3350983"/>
            <a:ext cx="623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Database</a:t>
            </a:r>
          </a:p>
          <a:p>
            <a:pPr>
              <a:buFont typeface="+mj-lt"/>
              <a:buAutoNum type="arabicPeriod" startAt="8"/>
            </a:pPr>
            <a:r>
              <a:rPr lang="en-US" b="1" dirty="0"/>
              <a:t>MySQL</a:t>
            </a:r>
            <a:r>
              <a:rPr lang="en-US" dirty="0"/>
              <a:t> – Relational database used to store book and user data.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2CFD3-5708-140B-0A3E-7BAA69EA4DD7}"/>
              </a:ext>
            </a:extLst>
          </p:cNvPr>
          <p:cNvSpPr txBox="1"/>
          <p:nvPr/>
        </p:nvSpPr>
        <p:spPr>
          <a:xfrm>
            <a:off x="1913613" y="4166082"/>
            <a:ext cx="6233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Tools &amp; Development Environment</a:t>
            </a:r>
          </a:p>
          <a:p>
            <a:pPr>
              <a:buFont typeface="+mj-lt"/>
              <a:buAutoNum type="arabicPeriod" startAt="9"/>
            </a:pPr>
            <a:r>
              <a:rPr lang="en-IN" b="1" dirty="0"/>
              <a:t>Spring Tool Suite (STS) / IntelliJ IDEA</a:t>
            </a:r>
            <a:r>
              <a:rPr lang="en-IN" dirty="0"/>
              <a:t> – IDE for Java and Spring Boot development.</a:t>
            </a:r>
          </a:p>
          <a:p>
            <a:pPr>
              <a:buFont typeface="+mj-lt"/>
              <a:buAutoNum type="arabicPeriod" startAt="9"/>
            </a:pPr>
            <a:r>
              <a:rPr lang="en-IN" b="1" dirty="0"/>
              <a:t>Maven</a:t>
            </a:r>
            <a:r>
              <a:rPr lang="en-IN" dirty="0"/>
              <a:t> – Dependency management and project build tool.</a:t>
            </a:r>
          </a:p>
          <a:p>
            <a:pPr>
              <a:buFont typeface="+mj-lt"/>
              <a:buAutoNum type="arabicPeriod" startAt="9"/>
            </a:pPr>
            <a:r>
              <a:rPr lang="en-IN" b="1" dirty="0"/>
              <a:t>Postman</a:t>
            </a:r>
            <a:r>
              <a:rPr lang="en-IN" dirty="0"/>
              <a:t> – API testing tool for REST endpoints.</a:t>
            </a:r>
          </a:p>
          <a:p>
            <a:pPr>
              <a:buFont typeface="+mj-lt"/>
              <a:buAutoNum type="arabicPeriod" startAt="9"/>
            </a:pPr>
            <a:r>
              <a:rPr lang="en-IN" b="1" dirty="0"/>
              <a:t>Apache Tomcat (Embedded)</a:t>
            </a:r>
            <a:r>
              <a:rPr lang="en-IN" dirty="0"/>
              <a:t> – Application server used by Spring Boot.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E9DCC-323D-F7CE-71D1-BE37392AC75D}"/>
              </a:ext>
            </a:extLst>
          </p:cNvPr>
          <p:cNvSpPr txBox="1"/>
          <p:nvPr/>
        </p:nvSpPr>
        <p:spPr>
          <a:xfrm>
            <a:off x="1886447" y="6051602"/>
            <a:ext cx="6742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Browser &amp; Testing</a:t>
            </a:r>
          </a:p>
          <a:p>
            <a:pPr>
              <a:buFont typeface="+mj-lt"/>
              <a:buAutoNum type="arabicPeriod" startAt="14"/>
            </a:pPr>
            <a:r>
              <a:rPr lang="en-US" b="1" dirty="0"/>
              <a:t>Google Chrome</a:t>
            </a:r>
            <a:r>
              <a:rPr lang="en-US" dirty="0"/>
              <a:t> – Browser used for frontend testing and debugging.</a:t>
            </a:r>
          </a:p>
        </p:txBody>
      </p:sp>
    </p:spTree>
    <p:extLst>
      <p:ext uri="{BB962C8B-B14F-4D97-AF65-F5344CB8AC3E}">
        <p14:creationId xmlns:p14="http://schemas.microsoft.com/office/powerpoint/2010/main" val="175136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9105-D973-4C2A-58DD-70F0D28E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82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Software Requirements: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B444D-088E-1C37-2B39-2CB3824AF7DB}"/>
              </a:ext>
            </a:extLst>
          </p:cNvPr>
          <p:cNvSpPr txBox="1"/>
          <p:nvPr/>
        </p:nvSpPr>
        <p:spPr>
          <a:xfrm>
            <a:off x="2087217" y="469127"/>
            <a:ext cx="84283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Backend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Java JDK 17 (or above)</a:t>
            </a:r>
            <a:r>
              <a:rPr lang="en-US" dirty="0"/>
              <a:t> – Required to develop and run the Spring Boot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Spring Boot Framework</a:t>
            </a:r>
            <a:r>
              <a:rPr lang="en-US" dirty="0"/>
              <a:t> – Backend application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Spring Tool Suite (STS) / IntelliJ IDEA</a:t>
            </a:r>
            <a:r>
              <a:rPr lang="en-US" dirty="0"/>
              <a:t> – Integrated Development Environment (IDE)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Maven</a:t>
            </a:r>
            <a:r>
              <a:rPr lang="en-US" dirty="0"/>
              <a:t> – Dependency management and build tool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0FC6-4D85-1259-A6E1-460E267D54BE}"/>
              </a:ext>
            </a:extLst>
          </p:cNvPr>
          <p:cNvSpPr txBox="1"/>
          <p:nvPr/>
        </p:nvSpPr>
        <p:spPr>
          <a:xfrm>
            <a:off x="2087217" y="1877315"/>
            <a:ext cx="79672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Frontend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Web Browser (Google Chrome / Mozilla Firefox)</a:t>
            </a:r>
            <a:r>
              <a:rPr lang="en-IN" dirty="0"/>
              <a:t> – To access and test the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HTML5, CSS3, JavaScript</a:t>
            </a:r>
            <a:r>
              <a:rPr lang="en-IN" dirty="0"/>
              <a:t> – Frontend technologies (run inside browser)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B64CA-8FB1-C3ED-338F-F3141D7D87F8}"/>
              </a:ext>
            </a:extLst>
          </p:cNvPr>
          <p:cNvSpPr txBox="1"/>
          <p:nvPr/>
        </p:nvSpPr>
        <p:spPr>
          <a:xfrm>
            <a:off x="2087217" y="2967335"/>
            <a:ext cx="713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Database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MySQL Server</a:t>
            </a:r>
            <a:r>
              <a:rPr lang="en-IN" dirty="0"/>
              <a:t> – Relational database for storing library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MySQL Workbench</a:t>
            </a:r>
            <a:r>
              <a:rPr lang="en-IN" dirty="0"/>
              <a:t> – Database management and query execution tool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C41A4-A5DD-E79C-290C-AB6DA224F3FE}"/>
              </a:ext>
            </a:extLst>
          </p:cNvPr>
          <p:cNvSpPr txBox="1"/>
          <p:nvPr/>
        </p:nvSpPr>
        <p:spPr>
          <a:xfrm>
            <a:off x="2087217" y="3704430"/>
            <a:ext cx="6861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&amp; Testing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Spring Security</a:t>
            </a:r>
            <a:r>
              <a:rPr lang="en-US" dirty="0"/>
              <a:t> – For login and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Postman</a:t>
            </a:r>
            <a:r>
              <a:rPr lang="en-US" dirty="0"/>
              <a:t> – API testing tool for REST services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5BBD1-7718-916F-D037-22F41DDD1630}"/>
              </a:ext>
            </a:extLst>
          </p:cNvPr>
          <p:cNvSpPr txBox="1"/>
          <p:nvPr/>
        </p:nvSpPr>
        <p:spPr>
          <a:xfrm>
            <a:off x="2087217" y="4549680"/>
            <a:ext cx="4977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Application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Embedded Apache Tomcat</a:t>
            </a:r>
            <a:r>
              <a:rPr lang="en-US" dirty="0"/>
              <a:t> – Provided by Spring Boot for application deployment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F2A9E-816C-21A0-1C3C-A1BEFAD900EE}"/>
              </a:ext>
            </a:extLst>
          </p:cNvPr>
          <p:cNvSpPr txBox="1"/>
          <p:nvPr/>
        </p:nvSpPr>
        <p:spPr>
          <a:xfrm>
            <a:off x="2087217" y="5465543"/>
            <a:ext cx="4504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Version Control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Git</a:t>
            </a:r>
            <a:r>
              <a:rPr lang="en-IN"/>
              <a:t> – For source code management and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91378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B91C-092D-56C1-2705-26B053E5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229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Project Modules: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B8ABC-0B3A-D5A4-0D97-A57650679E7A}"/>
              </a:ext>
            </a:extLst>
          </p:cNvPr>
          <p:cNvSpPr txBox="1"/>
          <p:nvPr/>
        </p:nvSpPr>
        <p:spPr>
          <a:xfrm>
            <a:off x="1407380" y="712433"/>
            <a:ext cx="867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IN" b="1" dirty="0"/>
              <a:t>User Authentication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466EE-A587-8D9D-8607-C6A32C7CE7E8}"/>
              </a:ext>
            </a:extLst>
          </p:cNvPr>
          <p:cNvSpPr txBox="1"/>
          <p:nvPr/>
        </p:nvSpPr>
        <p:spPr>
          <a:xfrm>
            <a:off x="1407381" y="1162331"/>
            <a:ext cx="277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</a:t>
            </a:r>
            <a:r>
              <a:rPr lang="en-IN" b="1" dirty="0"/>
              <a:t>Book Management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405D3-3454-016F-3F22-A67C117A6371}"/>
              </a:ext>
            </a:extLst>
          </p:cNvPr>
          <p:cNvSpPr txBox="1"/>
          <p:nvPr/>
        </p:nvSpPr>
        <p:spPr>
          <a:xfrm>
            <a:off x="1407380" y="1808662"/>
            <a:ext cx="277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Book Listing Module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C61AF-B074-21B1-F83A-5AE91C689520}"/>
              </a:ext>
            </a:extLst>
          </p:cNvPr>
          <p:cNvSpPr txBox="1"/>
          <p:nvPr/>
        </p:nvSpPr>
        <p:spPr>
          <a:xfrm>
            <a:off x="1407379" y="2176495"/>
            <a:ext cx="277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  <a:r>
              <a:rPr lang="en-IN" b="1" dirty="0"/>
              <a:t>. Search &amp; Filter Module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14103-0C37-B889-3C70-892BEAAFDCFB}"/>
              </a:ext>
            </a:extLst>
          </p:cNvPr>
          <p:cNvSpPr txBox="1"/>
          <p:nvPr/>
        </p:nvSpPr>
        <p:spPr>
          <a:xfrm>
            <a:off x="1407379" y="2545827"/>
            <a:ext cx="2775005" cy="669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5. </a:t>
            </a:r>
            <a:r>
              <a:rPr lang="en-IN" b="1" dirty="0"/>
              <a:t>Frontend User Interface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2E77D-F86C-C9C1-3E15-C1741DAC6D30}"/>
              </a:ext>
            </a:extLst>
          </p:cNvPr>
          <p:cNvSpPr txBox="1"/>
          <p:nvPr/>
        </p:nvSpPr>
        <p:spPr>
          <a:xfrm>
            <a:off x="1407378" y="3215724"/>
            <a:ext cx="277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6. Backend Service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73AE7D-2C4F-91FC-B953-7C393DF2F755}"/>
              </a:ext>
            </a:extLst>
          </p:cNvPr>
          <p:cNvSpPr txBox="1"/>
          <p:nvPr/>
        </p:nvSpPr>
        <p:spPr>
          <a:xfrm>
            <a:off x="1407378" y="3640557"/>
            <a:ext cx="460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7. </a:t>
            </a:r>
            <a:r>
              <a:rPr lang="en-IN" b="1" dirty="0"/>
              <a:t>Database Management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5C2D9-A895-E9B0-BF96-511A1CB617F9}"/>
              </a:ext>
            </a:extLst>
          </p:cNvPr>
          <p:cNvSpPr txBox="1"/>
          <p:nvPr/>
        </p:nvSpPr>
        <p:spPr>
          <a:xfrm>
            <a:off x="1407378" y="4125788"/>
            <a:ext cx="358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8. </a:t>
            </a:r>
            <a:r>
              <a:rPr lang="en-IN" b="1" dirty="0"/>
              <a:t>API Integration Module</a:t>
            </a:r>
          </a:p>
        </p:txBody>
      </p:sp>
    </p:spTree>
    <p:extLst>
      <p:ext uri="{BB962C8B-B14F-4D97-AF65-F5344CB8AC3E}">
        <p14:creationId xmlns:p14="http://schemas.microsoft.com/office/powerpoint/2010/main" val="390088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04CC-989A-95F3-C2A7-009C8B1C7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06151"/>
            <a:ext cx="10515600" cy="1325563"/>
          </a:xfrm>
        </p:spPr>
        <p:txBody>
          <a:bodyPr/>
          <a:lstStyle/>
          <a:p>
            <a:r>
              <a:rPr lang="en-US" sz="3200" dirty="0"/>
              <a:t>Client Server Architecture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CF591-2CAD-F4B9-A112-6C29E327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771525"/>
            <a:ext cx="1119187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1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72F8-8FFF-5F2A-CA07-3D0DDAA5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9" y="-3822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Spring Boot App: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9062F-A015-38D3-8553-D05A5851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576262"/>
            <a:ext cx="1120140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52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F513-7D0F-9A64-73E4-7B3E52D4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844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Admin Module: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83B33-6F14-D9B0-71D1-908D9820EB3A}"/>
              </a:ext>
            </a:extLst>
          </p:cNvPr>
          <p:cNvSpPr txBox="1"/>
          <p:nvPr/>
        </p:nvSpPr>
        <p:spPr>
          <a:xfrm>
            <a:off x="1843377" y="497503"/>
            <a:ext cx="7936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 Authentication</a:t>
            </a:r>
            <a:br>
              <a:rPr lang="en-US" dirty="0"/>
            </a:br>
            <a:r>
              <a:rPr lang="en-US" dirty="0"/>
              <a:t>The admin module provides secure login functionality, ensuring that only authorized administrators can access the system and perform management operations.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78A47-BB60-9DCB-362A-6C0F9EEABED9}"/>
              </a:ext>
            </a:extLst>
          </p:cNvPr>
          <p:cNvSpPr txBox="1"/>
          <p:nvPr/>
        </p:nvSpPr>
        <p:spPr>
          <a:xfrm>
            <a:off x="1843377" y="1673979"/>
            <a:ext cx="7013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 Management</a:t>
            </a:r>
            <a:br>
              <a:rPr lang="en-US" dirty="0"/>
            </a:br>
            <a:r>
              <a:rPr lang="en-US" dirty="0"/>
              <a:t>Admin can add new books, update existing book details such as title, author, and price, and remove books from the library collection when required.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1C524-BFCA-A6CA-6F12-E754359C4D9E}"/>
              </a:ext>
            </a:extLst>
          </p:cNvPr>
          <p:cNvSpPr txBox="1"/>
          <p:nvPr/>
        </p:nvSpPr>
        <p:spPr>
          <a:xfrm>
            <a:off x="1843377" y="2807218"/>
            <a:ext cx="6520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Management</a:t>
            </a:r>
            <a:br>
              <a:rPr lang="en-US" dirty="0"/>
            </a:br>
            <a:r>
              <a:rPr lang="en-US" dirty="0"/>
              <a:t>The admin manages user accounts by creating, updating, or deleting user records and assigning appropriate roles and access permissions.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545FA-A220-E27B-FAF8-76EA39881B7C}"/>
              </a:ext>
            </a:extLst>
          </p:cNvPr>
          <p:cNvSpPr txBox="1"/>
          <p:nvPr/>
        </p:nvSpPr>
        <p:spPr>
          <a:xfrm>
            <a:off x="1843377" y="3991645"/>
            <a:ext cx="6178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Transaction Monitoring</a:t>
            </a:r>
            <a:br>
              <a:rPr lang="en-US" dirty="0"/>
            </a:br>
            <a:r>
              <a:rPr lang="en-US" dirty="0"/>
              <a:t>Admin can view and monitor all book transactions, including issue and return details, to ensure proper tracking of library activities.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C7BC6-2100-FF3E-6FA1-FCF2BA22349D}"/>
              </a:ext>
            </a:extLst>
          </p:cNvPr>
          <p:cNvSpPr txBox="1"/>
          <p:nvPr/>
        </p:nvSpPr>
        <p:spPr>
          <a:xfrm>
            <a:off x="1843377" y="5116933"/>
            <a:ext cx="5939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Maintenance</a:t>
            </a:r>
            <a:br>
              <a:rPr lang="en-US" dirty="0"/>
            </a:br>
            <a:r>
              <a:rPr lang="en-US" dirty="0"/>
              <a:t>The admin oversees system operations such as data consistency, security configurations, and overall maintenance of the library management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26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1697-53FB-0D32-03BB-9072B860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844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Student Module: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6B418-E762-92C5-4229-19B45262CAD5}"/>
              </a:ext>
            </a:extLst>
          </p:cNvPr>
          <p:cNvSpPr txBox="1"/>
          <p:nvPr/>
        </p:nvSpPr>
        <p:spPr>
          <a:xfrm>
            <a:off x="1884459" y="524786"/>
            <a:ext cx="6337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 Authentication</a:t>
            </a:r>
            <a:br>
              <a:rPr lang="en-US" dirty="0"/>
            </a:br>
            <a:r>
              <a:rPr lang="en-US" dirty="0"/>
              <a:t>The student module provides login functionality that allows students to securely access the library system using their credentials.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E561E-09BB-8BEE-76A6-390615DC2E5D}"/>
              </a:ext>
            </a:extLst>
          </p:cNvPr>
          <p:cNvSpPr txBox="1"/>
          <p:nvPr/>
        </p:nvSpPr>
        <p:spPr>
          <a:xfrm>
            <a:off x="1884459" y="1670091"/>
            <a:ext cx="6090699" cy="930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 Search and View</a:t>
            </a:r>
            <a:br>
              <a:rPr lang="en-US" dirty="0"/>
            </a:br>
            <a:r>
              <a:rPr lang="en-US" dirty="0"/>
              <a:t>Students can search for books by title, author, or category and view detailed information such as availability and price.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93344-815B-03AD-F142-CF3F601AB673}"/>
              </a:ext>
            </a:extLst>
          </p:cNvPr>
          <p:cNvSpPr txBox="1"/>
          <p:nvPr/>
        </p:nvSpPr>
        <p:spPr>
          <a:xfrm>
            <a:off x="1884459" y="2592124"/>
            <a:ext cx="5526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 Borrowing</a:t>
            </a:r>
            <a:br>
              <a:rPr lang="en-US" dirty="0"/>
            </a:br>
            <a:r>
              <a:rPr lang="en-US" dirty="0"/>
              <a:t>Students can request or borrow available books from the library and view the list of books currently issued to them.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175F0-88F3-B36E-5E6E-B30DF75825F2}"/>
              </a:ext>
            </a:extLst>
          </p:cNvPr>
          <p:cNvSpPr txBox="1"/>
          <p:nvPr/>
        </p:nvSpPr>
        <p:spPr>
          <a:xfrm>
            <a:off x="1884459" y="3752035"/>
            <a:ext cx="5160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Return Management</a:t>
            </a:r>
            <a:br>
              <a:rPr lang="en-US" dirty="0"/>
            </a:br>
            <a:r>
              <a:rPr lang="en-US" dirty="0"/>
              <a:t>The module allows students to return borrowed books and view return status and due dates.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F07F1-470B-61DB-BE6A-717B2BEA9754}"/>
              </a:ext>
            </a:extLst>
          </p:cNvPr>
          <p:cNvSpPr txBox="1"/>
          <p:nvPr/>
        </p:nvSpPr>
        <p:spPr>
          <a:xfrm>
            <a:off x="1884459" y="4659462"/>
            <a:ext cx="45163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Profile Management</a:t>
            </a:r>
            <a:br>
              <a:rPr lang="en-US" dirty="0"/>
            </a:br>
            <a:r>
              <a:rPr lang="en-US" dirty="0"/>
              <a:t>Students can view and update their personal details and track their borrowing history within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443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88A8-2733-4D6C-32DC-F09BAE75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8" y="-35844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Company Module: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031069-76A7-B6D7-F6A9-E7E11B29C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48" y="571313"/>
            <a:ext cx="68666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Profile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module maintains complete details of the organization responsible for managing the library system, including name, address, and contact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BBBCD5-68DC-0912-07D2-C423723B9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039" y="2809691"/>
            <a:ext cx="65088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and Rule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can define library policies such as borrowing limits, fine rules, membership validity, and operating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C6422-8398-B626-F9A7-71CDBF4BD952}"/>
              </a:ext>
            </a:extLst>
          </p:cNvPr>
          <p:cNvSpPr txBox="1"/>
          <p:nvPr/>
        </p:nvSpPr>
        <p:spPr>
          <a:xfrm>
            <a:off x="1681039" y="3769069"/>
            <a:ext cx="5963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Security and Compliance</a:t>
            </a:r>
            <a:br>
              <a:rPr lang="en-US" dirty="0"/>
            </a:br>
            <a:r>
              <a:rPr lang="en-US" dirty="0"/>
              <a:t>Ensures secure handling of library data, user information, and compliance with organizational or institutional standards.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860B0-3EC4-E1CC-29BB-E60E2C84F573}"/>
              </a:ext>
            </a:extLst>
          </p:cNvPr>
          <p:cNvSpPr txBox="1"/>
          <p:nvPr/>
        </p:nvSpPr>
        <p:spPr>
          <a:xfrm>
            <a:off x="1681039" y="4589948"/>
            <a:ext cx="5605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Maintenance and Support Management</a:t>
            </a:r>
            <a:br>
              <a:rPr lang="en-US" dirty="0"/>
            </a:br>
            <a:r>
              <a:rPr lang="en-US" dirty="0"/>
              <a:t>The company module supports system updates, bug fixes, backups, and technical support to ensure smooth and uninterrupted system operation.</a:t>
            </a:r>
            <a:endParaRPr lang="en-IN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0A61381-D21D-CD08-D184-A6C60E4E47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81039" y="1711813"/>
            <a:ext cx="67268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Ownership and Administration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module defines the company as the system owner, responsible for configuring system settings, managing users, and overseeing overall library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5C9D-FF77-BA28-6F5A-4BEAC487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" y="-36576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Training Module: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7645D-243A-01AD-0081-FA19AE191259}"/>
              </a:ext>
            </a:extLst>
          </p:cNvPr>
          <p:cNvSpPr txBox="1"/>
          <p:nvPr/>
        </p:nvSpPr>
        <p:spPr>
          <a:xfrm>
            <a:off x="1963972" y="572494"/>
            <a:ext cx="6138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Training Management</a:t>
            </a:r>
            <a:br>
              <a:rPr lang="en-US" dirty="0"/>
            </a:br>
            <a:r>
              <a:rPr lang="en-US" dirty="0"/>
              <a:t>This module provides training programs for librarians, administrators, and staff to understand system functionalities and workflows.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EDD85-8DC6-54C7-C0C3-788070B2943E}"/>
              </a:ext>
            </a:extLst>
          </p:cNvPr>
          <p:cNvSpPr txBox="1"/>
          <p:nvPr/>
        </p:nvSpPr>
        <p:spPr>
          <a:xfrm>
            <a:off x="1963972" y="1772823"/>
            <a:ext cx="5653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Usage Guidance</a:t>
            </a:r>
            <a:br>
              <a:rPr lang="en-US" dirty="0"/>
            </a:br>
            <a:r>
              <a:rPr lang="en-US" dirty="0"/>
              <a:t>Helps users learn how to perform daily operations such as book entry, issue/return processing, member management, and report generation.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F4D10-3173-CE7D-88B9-4375542825F9}"/>
              </a:ext>
            </a:extLst>
          </p:cNvPr>
          <p:cNvSpPr txBox="1"/>
          <p:nvPr/>
        </p:nvSpPr>
        <p:spPr>
          <a:xfrm>
            <a:off x="1924216" y="2828835"/>
            <a:ext cx="5828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Role-Based Training</a:t>
            </a:r>
            <a:br>
              <a:rPr lang="en-US" dirty="0"/>
            </a:br>
            <a:r>
              <a:rPr lang="en-US" dirty="0"/>
              <a:t>Different training content is provided based on user roles like Admin, Librarian, and Staff to ensure efficient system usage.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56449A6-DD04-D04B-82EF-22D99D30DB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68556" y="3969317"/>
            <a:ext cx="574879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and Tutorials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user manuals, step-by-step guides, and video tutorials to support learning and reduce operational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9C35E-4566-1294-7CB9-BA76070FCDCD}"/>
              </a:ext>
            </a:extLst>
          </p:cNvPr>
          <p:cNvSpPr txBox="1"/>
          <p:nvPr/>
        </p:nvSpPr>
        <p:spPr>
          <a:xfrm>
            <a:off x="1868555" y="5085176"/>
            <a:ext cx="5748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Skill Enhancement and Updates</a:t>
            </a:r>
            <a:br>
              <a:rPr lang="en-US" dirty="0"/>
            </a:br>
            <a:r>
              <a:rPr lang="en-US" dirty="0"/>
              <a:t>Regular training updates are conducted whenever new features or system enhancements are introduced.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23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A615-FBF9-8883-13C7-E1D29420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-446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Placement Module: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B1D6C2-BD08-A36D-6A58-7390C9BA023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24216" y="474775"/>
            <a:ext cx="628948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 Guidance Support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module helps students and staff access information related to placement preparation, career guidance, and professional development resources available in the library.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1F734-8C91-1EE5-C204-90FA208F582F}"/>
              </a:ext>
            </a:extLst>
          </p:cNvPr>
          <p:cNvSpPr txBox="1"/>
          <p:nvPr/>
        </p:nvSpPr>
        <p:spPr>
          <a:xfrm>
            <a:off x="1924216" y="1637742"/>
            <a:ext cx="5931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Placement Resource Management</a:t>
            </a:r>
            <a:br>
              <a:rPr lang="en-US" dirty="0"/>
            </a:br>
            <a:r>
              <a:rPr lang="en-US" dirty="0"/>
              <a:t>Manages books, journals, e-books, and digital materials related to aptitude tests, interview preparation, competitive exams, and technical skills.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F469D-CC6C-51FF-6365-F20D16B22F71}"/>
              </a:ext>
            </a:extLst>
          </p:cNvPr>
          <p:cNvSpPr txBox="1"/>
          <p:nvPr/>
        </p:nvSpPr>
        <p:spPr>
          <a:xfrm>
            <a:off x="1924216" y="2711199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Company Information Access</a:t>
            </a:r>
            <a:br>
              <a:rPr lang="en-US" dirty="0"/>
            </a:br>
            <a:r>
              <a:rPr lang="en-US" dirty="0"/>
              <a:t>Provides details about recruiting companies, job roles, eligibility criteria, and placement-related documents for easy reference.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6C584-7393-5138-AF00-7E7BE869E370}"/>
              </a:ext>
            </a:extLst>
          </p:cNvPr>
          <p:cNvSpPr txBox="1"/>
          <p:nvPr/>
        </p:nvSpPr>
        <p:spPr>
          <a:xfrm>
            <a:off x="1924216" y="3816112"/>
            <a:ext cx="5064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and Placement Coordination</a:t>
            </a:r>
            <a:br>
              <a:rPr lang="en-US" dirty="0"/>
            </a:br>
            <a:r>
              <a:rPr lang="en-US" dirty="0"/>
              <a:t>Supports coordination between the library and placement cell by organizing training schedules, placement materials, and notices.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BD386-C1E0-9433-0C7E-8794E386CC64}"/>
              </a:ext>
            </a:extLst>
          </p:cNvPr>
          <p:cNvSpPr txBox="1"/>
          <p:nvPr/>
        </p:nvSpPr>
        <p:spPr>
          <a:xfrm>
            <a:off x="1924216" y="4921801"/>
            <a:ext cx="4420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Digital Learning Support</a:t>
            </a:r>
            <a:br>
              <a:rPr lang="en-US" dirty="0"/>
            </a:br>
            <a:r>
              <a:rPr lang="en-US" dirty="0"/>
              <a:t>Offers access to online learning resources, previous interview questions, and placement-oriented study materials.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959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33A1-BAF5-C13E-6CDB-D99AC2CF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415" y="2456318"/>
            <a:ext cx="10515600" cy="1325563"/>
          </a:xfrm>
        </p:spPr>
        <p:txBody>
          <a:bodyPr/>
          <a:lstStyle/>
          <a:p>
            <a:r>
              <a:rPr lang="en-US" b="1" dirty="0"/>
              <a:t>   DATA DICTIONARY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76224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5CD6-2313-A648-9F70-CEA806B9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90" y="-32663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Tables Of Database: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C31D5-B59C-02AF-878B-236A9F2D0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165" y="998925"/>
            <a:ext cx="2831715" cy="192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97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CBDA-5A0C-C6FC-6917-9E6B8D2F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85" y="-32663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Show Table: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F3779-17C8-615A-D0E9-CB32E6445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114" y="1121134"/>
            <a:ext cx="5115639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09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6EDE-F81D-E3FC-3C32-A0474B25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85" y="-3663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Localhost:9090/Login.html: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0CAB6-1B4F-2741-4729-2F5CBB9E0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087" y="612250"/>
            <a:ext cx="9198997" cy="600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50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DE33-5911-15E6-3FF5-598DE17E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4" y="-32663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Localhost:9090/index.html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3F845-0857-8071-B455-817D56CED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88" y="667910"/>
            <a:ext cx="11950824" cy="583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74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877B-C098-7349-C501-C9CFEBCA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Links: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D24B-A1D4-31F7-D403-0E664F6706C3}"/>
              </a:ext>
            </a:extLst>
          </p:cNvPr>
          <p:cNvSpPr txBox="1"/>
          <p:nvPr/>
        </p:nvSpPr>
        <p:spPr>
          <a:xfrm>
            <a:off x="3204376" y="1622066"/>
            <a:ext cx="5462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https://drive.google.com/file/d/1smHRCHZZvMvYO4VqSCRZQrkTmSlqh5fq/view?usp=sharing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1261928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AC7E-E319-DA6A-A3E1-8C3C4040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Github</a:t>
            </a:r>
            <a:r>
              <a:rPr lang="en-US" sz="3200" dirty="0"/>
              <a:t> Links: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38FEE-7B43-D9A7-6A45-EEE4F55E63E8}"/>
              </a:ext>
            </a:extLst>
          </p:cNvPr>
          <p:cNvSpPr txBox="1"/>
          <p:nvPr/>
        </p:nvSpPr>
        <p:spPr>
          <a:xfrm>
            <a:off x="1963972" y="1765190"/>
            <a:ext cx="6384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https://github.com/Yazhini-246/css-box-model</a:t>
            </a:r>
          </a:p>
        </p:txBody>
      </p:sp>
    </p:spTree>
    <p:extLst>
      <p:ext uri="{BB962C8B-B14F-4D97-AF65-F5344CB8AC3E}">
        <p14:creationId xmlns:p14="http://schemas.microsoft.com/office/powerpoint/2010/main" val="214966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1689</Words>
  <Application>Microsoft Office PowerPoint</Application>
  <PresentationFormat>Widescreen</PresentationFormat>
  <Paragraphs>132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LIBRARY MANAGEMENT SYSTEM</vt:lpstr>
      <vt:lpstr>INTRODUCTION:</vt:lpstr>
      <vt:lpstr>ABSTRACT:</vt:lpstr>
      <vt:lpstr>What we are going to build:Client Requirements</vt:lpstr>
      <vt:lpstr>What we are going to build:Some Technical Terms</vt:lpstr>
      <vt:lpstr>What are the technologies and tools:</vt:lpstr>
      <vt:lpstr>Software Requirements:</vt:lpstr>
      <vt:lpstr>Project Modules:</vt:lpstr>
      <vt:lpstr>Client Server Architecture:</vt:lpstr>
      <vt:lpstr>Spring Boot App:</vt:lpstr>
      <vt:lpstr>Admin Module:</vt:lpstr>
      <vt:lpstr>Student Module:</vt:lpstr>
      <vt:lpstr>Company Module:</vt:lpstr>
      <vt:lpstr>Training Module:</vt:lpstr>
      <vt:lpstr>Placement Module:</vt:lpstr>
      <vt:lpstr>   DATA DICTIONARY</vt:lpstr>
      <vt:lpstr>Tables Of Database:</vt:lpstr>
      <vt:lpstr>Show Table:</vt:lpstr>
      <vt:lpstr>Localhost:9090/Login.html:</vt:lpstr>
      <vt:lpstr>Localhost:9090/index.html</vt:lpstr>
      <vt:lpstr>Video Links:</vt:lpstr>
      <vt:lpstr>Github Links: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Tharanica</dc:creator>
  <cp:lastModifiedBy>Tharanica</cp:lastModifiedBy>
  <cp:revision>3</cp:revision>
  <dcterms:created xsi:type="dcterms:W3CDTF">2025-12-19T08:53:32Z</dcterms:created>
  <dcterms:modified xsi:type="dcterms:W3CDTF">2025-12-19T13:08:43Z</dcterms:modified>
</cp:coreProperties>
</file>